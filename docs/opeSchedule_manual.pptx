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📅  opeSchedule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ADD8E6"/>
                </a:solidFill>
              </a:rPr>
              <a:t>運 用 マ ニ ュ ア 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Web ベース開発スケジュール管理ツール（ガントチャート）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749039"/>
            <a:ext cx="3959352" cy="594360"/>
          </a:xfrm>
          <a:prstGeom prst="rect">
            <a:avLst/>
          </a:prstGeom>
          <a:solidFill>
            <a:srgbClr val="1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794760"/>
            <a:ext cx="3959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Version 0.1.0  ／  2026-03-20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37760"/>
            <a:ext cx="2103120" cy="1463040"/>
          </a:xfrm>
          <a:prstGeom prst="rect">
            <a:avLst/>
          </a:prstGeom>
          <a:solidFill>
            <a:srgbClr val="3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スケジュール
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4937760"/>
            <a:ext cx="2103120" cy="1463040"/>
          </a:xfrm>
          <a:prstGeom prst="rect">
            <a:avLst/>
          </a:prstGeom>
          <a:solidFill>
            <a:srgbClr val="3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ガントチャート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937760"/>
            <a:ext cx="2103120" cy="1463040"/>
          </a:xfrm>
          <a:prstGeom prst="rect">
            <a:avLst/>
          </a:prstGeom>
          <a:solidFill>
            <a:srgbClr val="3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バージョン
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4937760"/>
            <a:ext cx="2103120" cy="1463040"/>
          </a:xfrm>
          <a:prstGeom prst="rect">
            <a:avLst/>
          </a:prstGeom>
          <a:solidFill>
            <a:srgbClr val="3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Import /
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目次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9659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74519"/>
            <a:ext cx="2651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1109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システム概要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951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機能概要・アクセス方法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3063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971800"/>
            <a:ext cx="2651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0083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Top 画面の操作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924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プロジェクト一覧・作成・設定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79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4160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069079"/>
            <a:ext cx="2651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105655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Schedule 画面の操作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8970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ガントチャート・タスク管理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59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525779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166359"/>
            <a:ext cx="2651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0293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バージョン管理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58698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履歴・バージョンUP・過去版閲覧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874519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19659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1874519"/>
            <a:ext cx="493775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59" y="1911095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Import /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295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データの入出力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971800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3063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71800"/>
            <a:ext cx="493775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30083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比較・フィルター表示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33924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複数プロジェクト閲覧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069079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4160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069079"/>
            <a:ext cx="493775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59" y="4105655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管理者向け情報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448970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起動方法・環境変数・マイグレーション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166359"/>
            <a:ext cx="64008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27064" y="525779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5166359"/>
            <a:ext cx="493775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59" y="520293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</a:rPr>
              <a:t>よくあるトラブル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59" y="558698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</a:rPr>
              <a:t>エラー対応・ブラウザキャッシュ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1. システム概要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opeSchedule とは何か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0D9"/>
                </a:solidFill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02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Web ブラウザで動作する開発スケジュール管理ツール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ガントチャート形式でプロジェクトを可視化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大項目・中項目・小項目の3階層でタスクを整理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マイルストーン（◆）で重要イベントを管理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進捗率をバーで視覚的に表現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タスクのドラッグ＆ドロップで日程変更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複数プロジェクトの比較・横断表示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2C3E50"/>
                </a:solidFill>
              </a:rPr>
              <a:t>● バージョン管理で過去のスケジュールを閲覧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7739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アクセス 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48840"/>
            <a:ext cx="52669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http://localhost:8000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（本番環境は管理者に確認）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37560"/>
            <a:ext cx="54864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3741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動作環境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486400" cy="12801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749039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● 推奨ブラウザ: Google Chrome / Edge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● 画面解像度: 1280px 以上推奨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● ネットワーク: サーバーと同一 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51572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技術スタック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5532120"/>
            <a:ext cx="52669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Frontend : React 18 + Vite 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Backend  : Python FastAPI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DB       : SQLite（開発）/ PostgreSQL（本番）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2. Top 画面の操作①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画面構成・プロジェクト一覧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1152144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opeSchedule  ヘッダー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2286000" cy="4251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左サイドバー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比較表示
  （折りたたみ）
▶ 大項目フィルター
  （折りたたみ）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286000"/>
            <a:ext cx="594360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Projects タブ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697480"/>
            <a:ext cx="5943600" cy="347472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モデル名 / プロジェクト名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最終更新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724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D9"/>
                </a:solidFill>
              </a:rPr>
              <a:t>操作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090672"/>
            <a:ext cx="5943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9192" y="31821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0D9"/>
                </a:solidFill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1821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F8C8D"/>
                </a:solidFill>
              </a:rPr>
              <a:t>ModelA 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182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90D9"/>
                </a:solidFill>
              </a:rPr>
              <a:t>ECサイトリニューアル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作業中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182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182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03/20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1821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✎ 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547872"/>
            <a:ext cx="5943600" cy="4389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9192" y="36393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0D9"/>
                </a:solidFill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639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90D9"/>
                </a:solidFill>
              </a:rPr>
              <a:t>クラウド移行プロジェクト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639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未開始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6393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v1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639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03/18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6393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✎ 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4005072"/>
            <a:ext cx="5943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40965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0D9"/>
                </a:solidFill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0965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F8C8D"/>
                </a:solidFill>
              </a:rPr>
              <a:t>ModelB 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09651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90D9"/>
                </a:solidFill>
              </a:rPr>
              <a:t>セキュリティ監査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09651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終了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9651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0965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02/28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09651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✎ 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1080" y="2286000"/>
            <a:ext cx="3291840" cy="42519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Global Config タブ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2697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・週の開始曜日
・デフォルト表示モード
・テーマ（ライト/ダーク）
・今日へ自動スクロール
・週末ハイライト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2. Top 画面の操作②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プロジェクトの作成・編集・アーカイブ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0D9"/>
                </a:solidFill>
              </a:rPr>
              <a:t>プロジェクト作成手順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0292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23134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240280"/>
            <a:ext cx="46177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5000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「+ New Project」ボタンをクリック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44368"/>
            <a:ext cx="50292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944368"/>
            <a:ext cx="46177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5409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モデル名を入力（任意・最上位分類）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50292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3721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648456"/>
            <a:ext cx="46177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5818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プロジェクト名を入力（必須）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52544"/>
            <a:ext cx="50292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4425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352544"/>
            <a:ext cx="46177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62272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表示色・客先名・ベースPJ を任意入力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56632"/>
            <a:ext cx="50292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51297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056632"/>
            <a:ext cx="46177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16636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業務ステータスを選択（未開始 / 作業中 / 中断 / 終了）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50292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5833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760720"/>
            <a:ext cx="46177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7044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「作成」ボタンをクリックして保存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737360"/>
            <a:ext cx="59436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77393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プロジェクト設定項目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103120"/>
            <a:ext cx="5943600" cy="3063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8" y="2148840"/>
            <a:ext cx="57241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モデル名       任意テキスト（最上位分類）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プロジェクト名 ★ 必須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説明           任意テキスト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表示色         HEX カラー（#4A90D9 等）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業務ステータス 未開始 / 作業中 / 中断 / 終了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客先名         顧客企業名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ベースPJ       参照元プロジェクト名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サムネイル画像 PNG/JPEG（任意・ヘッダーに表示）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表示モード     Day/Week/Month/Quarter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303520"/>
            <a:ext cx="5943600" cy="12344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5303520"/>
            <a:ext cx="594360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53309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アーカイブ自動化ルール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715000"/>
            <a:ext cx="5760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業務ステータスを「中断」または「終了」に変更すると
自動的にアーカイブ状態（非表示）になります。
Top 画面の「アーカイブ済みを表示 □」で再表示可能。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3. Schedule 画面の操作①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ガントチャートの画面構成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92224"/>
            <a:ext cx="502920" cy="347472"/>
          </a:xfrm>
          <a:prstGeom prst="rect">
            <a:avLst/>
          </a:prstGeom>
          <a:solidFill>
            <a:srgbClr val="5A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ModelA 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ECサイトリニューアル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[Day][Week][Month][Quarter]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Add  JSON  CSV  📋履歴[2]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8288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← 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31720"/>
            <a:ext cx="3840480" cy="42062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59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左ペイン（HierarchyPane）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24912"/>
            <a:ext cx="1261872" cy="2926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75234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大項目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2724912"/>
            <a:ext cx="1261872" cy="2926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275234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中項目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724912"/>
            <a:ext cx="1261872" cy="2926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1" y="275234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小項目（タスク）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63240"/>
            <a:ext cx="1261872" cy="530352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00200" y="3063240"/>
            <a:ext cx="1261872" cy="5303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62072" y="3063240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630168"/>
            <a:ext cx="1261872" cy="530352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3630168"/>
            <a:ext cx="1261872" cy="5303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62072" y="3630168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197096"/>
            <a:ext cx="1261872" cy="530352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00200" y="4197096"/>
            <a:ext cx="1261872" cy="5303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62072" y="4197096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764024"/>
            <a:ext cx="1261872" cy="5303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00200" y="4764024"/>
            <a:ext cx="1261872" cy="5303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62072" y="4764024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330952"/>
            <a:ext cx="1261872" cy="5303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00200" y="5330952"/>
            <a:ext cx="1261872" cy="5303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62072" y="5330952"/>
            <a:ext cx="1234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081528"/>
            <a:ext cx="1170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Phase1
要件定義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3081528"/>
            <a:ext cx="1170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調査・
要件整理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2" y="3081528"/>
            <a:ext cx="1143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市場調査
ヒアリング
要件書作成
設計
◆ 完了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2331720"/>
            <a:ext cx="7726679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235915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右ペイン（GanttPane）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724912"/>
            <a:ext cx="7726679" cy="292608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4/1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85231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4/8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3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4/15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3216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4/22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5/1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5/8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80192" y="27523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5/15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3172968"/>
            <a:ext cx="3236976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4223" y="3739896"/>
            <a:ext cx="215798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5231" y="4306824"/>
            <a:ext cx="4315968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22208" y="4873752"/>
            <a:ext cx="2157984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51776" y="54681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3. Schedule 画面の操作②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タスクの追加・編集・日程変更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73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タスク追加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66928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48840"/>
            <a:ext cx="54498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1. 「+ Add Task」ボタンをクリック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2. 大項目・中項目・小項目名を入力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3. 開始日・終了日を設定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4. 種別選択: task（期間）/ milestone（◆）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5. 「作成」ボタンで保存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576072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7393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タスク詳細・編集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5760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148840"/>
            <a:ext cx="55412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1. タスクバーまたは左ペインの小項目をクリック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2. 右隣に詳細パネルがポップアップ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3. 名前・日程・進捗率・色・メモを編集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4. 依存関係タスクを設定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5. 「保存」ボタンで確定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56692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428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ドラッグ＆ドロップで日程変更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5669280" cy="19659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617720"/>
            <a:ext cx="544982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1. タスクバーにマウスを合わせる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2. 左右にドラッグすると日程がシフト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3. マウスを離した時点で自動保存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※ マイルストーン（◆）はドラッグ不可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※ 比較モード・履歴モードでは操作不可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206240"/>
            <a:ext cx="576072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4281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表示モード切替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572000"/>
            <a:ext cx="5760720" cy="19659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4617720"/>
            <a:ext cx="55412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ヘッダーの [Day][Week][Month][Quarter] で切替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Day    : 1px = 40px   詳細表示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Week   : 1px =  8px   週単位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Month  : 1px =  2.5px 月単位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Quarter: 1px =  0.8px 四半期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4. バージョン管理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履歴の記録・バージョンUP・過去版の閲覧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</a:rPr>
              <a:t>変更ログ → バージョンUP の流れ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01168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タスク
変更操作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194560"/>
            <a:ext cx="201168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240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変更ログ
自動記録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194560"/>
            <a:ext cx="2011680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240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📋 履歴
ボタン [n]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2194560"/>
            <a:ext cx="201168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2240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バージョン
UP ボタン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194560"/>
            <a:ext cx="201168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240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スナップ
ショット保存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36576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44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変更ログ（自動）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8328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456432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タスクを操作するたびに DB 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自動記録される軽量ログ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記録される操作: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＋ タスク追加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✎ タスク更新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✕ タスク削除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📅 日程変更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↕ 並び替え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017520"/>
            <a:ext cx="36576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44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バージョンUP（手動）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38328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3456432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① 「📋 履歴」ボタンをクリック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② 未コミット変更一覧を確認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③ バージョン名を入力（任意）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 例: v3 リリース準備完了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④ 「⬆ バージョンUP」をクリック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→ 現在のタスク全量をスナップ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ショットとして保存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→ 最大 50 バージョン保持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017520"/>
            <a:ext cx="36576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過去版の閲覧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38328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7" y="3456432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① 履歴パネルの過去バージョン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 一覧をクリック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② ガントチャートが過去の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 状態に切り替わる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③ 読み取り専用（編集不可）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④ ヘッダーに版数と名称表示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 例: v2 — 初回納品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⑤「現在に戻る」で最新に戻る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5. Import /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データの入出力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📤  Export（エクスポート）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12848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4A90D9"/>
                </a:solidFill>
              </a:rPr>
              <a:t>手順: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① Schedule 画面ヘッダーの「JSON」または「CSV」ボタンをクリック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② ファイルが自動ダウンロードされます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A90D9"/>
                </a:solidFill>
              </a:rPr>
              <a:t>JSON 形式: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・プロジェクト情報 + タスク全件 + 依存関係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・ファイル名: project_{id}.json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・再インポート可能なフルバックアップ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A90D9"/>
                </a:solidFill>
              </a:rPr>
              <a:t>CSV 形式: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・タスクデータのみ（プロジェクト情報なし）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・ファイル名: project_{id}.csv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・Excel 等での加工に便利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※ 比較モード・履歴モードでは Export 不可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66928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📥  Import（インポート）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4A90D9"/>
                </a:solidFill>
              </a:rPr>
              <a:t>手順: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① Schedule 画面ヘッダーの「Import」ボタンをクリック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② JSON または CSV ファイルを選択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③ 新規プロジェクトとして登録されます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A90D9"/>
                </a:solidFill>
              </a:rPr>
              <a:t>対応形式: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JSON: opeSchedule 形式（フルバックアップ）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CSV:  タスクのみ。プロジェクト名はファイル名から取得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A90D9"/>
                </a:solidFill>
              </a:rPr>
              <a:t>制限事項: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・ファイルサイズ上限: 10 MB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・循環依存（A→B→A）は自動検出でエラー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・既存プロジェクトへの追加ではなく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  新規プロジェクトとして作成される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サンプルデータ: docs/sample_*.json を利用可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6. 比較・フィルター表示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複数プロジェクトの横断閲覧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566928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比較表示（Compare View）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5486400" cy="3657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操作手順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5486400" cy="17373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651760"/>
            <a:ext cx="5266944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① Top 画面左サイドバー「比較表示」を展開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② 比較したいプロジェクトを 2つ以上チェック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③「まとめて表示」ボタンをクリック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④ プロジェクト間にセパレーター行が挿入され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 全 PJ のタスクがまとめて表示される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5486400" cy="10515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622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📌  セパレーター行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プロジェクトとプロジェクトの間に
プロジェクト名を示す区切り行が自動挿入されます。
モデル名 / プロジェクト名 の形式で識別可能。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577840"/>
            <a:ext cx="548640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052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⚠  比較モードの制限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・タスク追加・Export ボタン非表示
・タスク詳細は読み取り専用（編集不可）
・ドラッグ・クリティカルパス・依存矢印無効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5669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737360"/>
            <a:ext cx="56692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 大項目フィルター表示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40280"/>
            <a:ext cx="54864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768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操作手順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606040"/>
            <a:ext cx="5486400" cy="17373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651760"/>
            <a:ext cx="5266944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① Top 画面左サイドバー「大項目フィルター」を展開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② 表示したい大項目をチェック（複数可）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③ 対象プロジェクトをチェック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④「フィルター表示」ボタンをクリック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⑤ 選択した大項目のタスクのみが表示される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434840"/>
            <a:ext cx="5486400" cy="3657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7141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URL 形式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00600"/>
            <a:ext cx="5486400" cy="5486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846320"/>
            <a:ext cx="526694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/schedule?projects=1&amp;projects=2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           &amp;catfilter=Phase1要件定義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440680"/>
            <a:ext cx="548640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68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D9"/>
                </a:solidFill>
              </a:rPr>
              <a:t>💡  活用例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064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「Phase1 要件定義」フェーズのみ全プロジェクト横断で
進捗を比較する際に便利です。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7. 管理者向け情報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起動・環境変数・DB マイグレーション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73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ローカル起動（Windows）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669280" cy="2560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48840"/>
            <a:ext cx="5449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start.bat をダブルクリック or コマンドから実行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[1/4] pip install -r requirements.txt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[2/4] alembic upgrade head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[3/4] npm install &amp;&amp; npm run build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[4/4] uvicorn app.main:app --reload ポート 8000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→ http://localhost:8000 でアクセス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6692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73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主要環境変数（backend/.env）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5669280" cy="2560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148840"/>
            <a:ext cx="5449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DATABASE_URL  = sqlite:///./opeschedule.db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APP_ENV       = development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CORS_ORIGINS  = http://localhost:8000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LOG_LEVEL     = info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APP_WORKERS   = 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本番: DATABASE_URL を PostgreSQL に変更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00600"/>
            <a:ext cx="56692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371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 起動（PostgreSQL 込み）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66360"/>
            <a:ext cx="5669280" cy="13716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5212080"/>
            <a:ext cx="5449824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docker-compose 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→ PostgreSQL + FastAPI が起動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→ alembic upgrade head が自動実行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→ http://localhost:8000 でアクセス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00600"/>
            <a:ext cx="56692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48371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DB マイグレーション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166360"/>
            <a:ext cx="5669280" cy="13716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5212080"/>
            <a:ext cx="5449824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# 最新に適用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alembic upgrade head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# 新規マイグレーション作成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alembic revision --autogenerate -m '説明'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CI: push/PR で ruff + pytest + docker 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8. よくあるトラブル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エラー対応・ブラウザキャッシュ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56692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画面が古い表示のまま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原因: ブラウザキャッシュが残っています。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対処: Ctrl + Shift + R（強制リロード）を実施。
それでも改善しない場合は DevTools の
Network タブで読み込まれているファイルのハッシュ値を確認。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6692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7647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「履歴の読み込みエラー: Not Found」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30552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原因: バックエンドのルーター登録漏れまたはサーバーが古いコードで動作中。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対処: サーバーを再起動してください。
Windows: すべての Python プロセスを終了後、
start.bat を再実行。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56692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564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「バージョンUP エラー: Method Not Allowed」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22191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原因: POST /snapshots エンドポイントが未登録のサーバーに接続中。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対処: 上記と同様にサーバーを再起動してください。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56692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4564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タスクバーのドラッグが効かない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822191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原因: 比較モードまたは履歴モードでは編集操作が無効になっています。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対処: URL を確認し、単一プロジェクトモード
（?project=&lt;id&gt;）でアクセスしてください。
履歴モードの場合は「現在に戻る」をクリック。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120640"/>
            <a:ext cx="56692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1480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インポートに失敗する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513831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原因: 循環依存（A→B→A）またはファイルサイズ超過（10MB）の可能性。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対処: 依存関係を見直してください。
エラーメッセージに詳細が表示されます。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12064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5120640"/>
            <a:ext cx="56692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51480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プロジェクトが一覧に表示されない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5513831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7F8C8D"/>
                </a:solidFill>
              </a:rPr>
              <a:t>原因: アーカイブ状態（status=archived）になっています。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対処: 「アーカイブ済みを表示 □」チェックボックスを
オンにして確認してください。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opeSchedule  運用マニュアル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90D9"/>
                </a:solidFill>
              </a:rPr>
              <a:t>操作早見表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F8C8D"/>
                </a:solidFill>
              </a:rPr>
              <a:t>よく使う操作のショートカット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80136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プロジェクト作成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783080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801368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Top 画面 → 「+ New Project」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84831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0312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スケジュール表示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084831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10312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Top 画面 → プロジェクト名をクリック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86584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4048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タスク追加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386584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40487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Schedule 画面 → 「+ Add Task」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88336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70662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タスク編集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688336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2706624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タスクバー / 左ペインの小項目をクリック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90088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08376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日程変更（D&amp;D）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990088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00837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タスクバーを左右にドラッグ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91840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31012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表示モード切替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291840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310128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ヘッダーの [Day][Week][Month][Quarter]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93591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611879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履歴パネル開く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3593591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361187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ヘッダーの「📋 履歴」ボタン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95344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913631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バージョンUP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895344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913631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履歴パネル → バージョン名入力 → 「⬆ バージョンUP」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783080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180136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過去版表示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1783080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1801368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履歴パネル → 過去バージョン一覧をクリック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084831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210312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現在に戻る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2084831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210312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ヘッダーの履歴モードバナー → 「現在に戻る」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386584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2404872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JSON エクスポート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2386584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240487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ヘッダーの「JSON」ボタン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2688336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2706624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CSV エクスポート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688336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2706624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ヘッダーの「CSV」ボタン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2990088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91072" y="3008376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インポート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2990088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300837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ヘッダーの「Import」ボタン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291840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2" y="3310128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比較表示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3291840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3310128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Top 画面サイドバー → 比較表示 → チェック → まとめて表示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3593591"/>
            <a:ext cx="2377440" cy="2743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91072" y="3611879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フィルター表示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95360" y="3593591"/>
            <a:ext cx="3291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0" y="361187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Top 画面サイドバー → 大項目フィルター → チェック → フィルター表示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895344"/>
            <a:ext cx="2377440" cy="274320"/>
          </a:xfrm>
          <a:prstGeom prst="rect">
            <a:avLst/>
          </a:prstGeom>
          <a:solidFill>
            <a:srgbClr val="2F7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1072" y="3913631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アーカイブ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95360" y="3895344"/>
            <a:ext cx="3291840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3913631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プロジェクト Edit → project_status を「中断」または「終了」に変更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