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opeSchedule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0CEF0"/>
                </a:solidFill>
              </a:rPr>
              <a:t>開発スケジュール管理ツール  導入提案資料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423160"/>
            <a:ext cx="5788152" cy="54864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8C0A"/>
                </a:solidFill>
              </a:rPr>
              <a:t>管理職向け  |  コスト・比較・導入計画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91840"/>
            <a:ext cx="3108960" cy="13716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C0A"/>
                </a:solidFill>
              </a:rPr>
              <a:t>PowerApps との比較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5876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EF0"/>
                </a:solidFill>
              </a:rPr>
              <a:t>現行システムとの
機能・コスト差を整理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3291840"/>
            <a:ext cx="3108960" cy="13716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3375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C0A"/>
                </a:solidFill>
              </a:rPr>
              <a:t>AWS / オンプレ 運用案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5876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EF0"/>
                </a:solidFill>
              </a:rPr>
              <a:t>2つの構成案と
コスト試算を提示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291840"/>
            <a:ext cx="3108960" cy="13716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3375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C0A"/>
                </a:solidFill>
              </a:rPr>
              <a:t>移行計画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85876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EF0"/>
                </a:solidFill>
              </a:rPr>
              <a:t>段階的導入と
リスク対策を明示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C8D"/>
                </a:solidFill>
              </a:rPr>
              <a:t>2026年3月  情報システム部門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08090"/>
                </a:solidFill>
              </a:rPr>
              <a:t>本資料は管理職の意思決定を支援するために作成されました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opeSchedule 導入提案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8C0A"/>
                </a:solidFill>
              </a:rPr>
              <a:t>管理職向け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96"/>
                </a:solidFill>
              </a:rPr>
              <a:t>目次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898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8D"/>
                </a:solidFill>
              </a:rPr>
              <a:t>本資料の構成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6692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02920" cy="6400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2011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2996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現状の課題 — PowerApps 運用の問題点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70048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70048"/>
            <a:ext cx="502920" cy="6400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7614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77977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opeSchedule 提案システム概要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19856"/>
            <a:ext cx="56692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19856"/>
            <a:ext cx="502920" cy="6400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" y="35112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2958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PowerApps vs opeSchedule 機能比較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69664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69664"/>
            <a:ext cx="502920" cy="6400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" y="42611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27939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運用コスト比較（PowerApps / AWS / オンプレ）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19472"/>
            <a:ext cx="56692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19472"/>
            <a:ext cx="502920" cy="6400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50109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AWS 構成案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69279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669279"/>
            <a:ext cx="502920" cy="6400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" y="57607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779007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オンプレ構成案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920240"/>
            <a:ext cx="56692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1920240"/>
            <a:ext cx="502920" cy="6400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3" y="2011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02996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コスト試算サマリー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670048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0" y="2670048"/>
            <a:ext cx="502920" cy="6400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1383" y="27614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277977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移行・導入スケジュール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419856"/>
            <a:ext cx="56692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3419856"/>
            <a:ext cx="502920" cy="6400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1383" y="35112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352958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リスクと対策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4169664"/>
            <a:ext cx="5669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4169664"/>
            <a:ext cx="502920" cy="6400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01383" y="426110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427939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推奨構成と意思決定フロー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4919472"/>
            <a:ext cx="566928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92240" y="4919472"/>
            <a:ext cx="502920" cy="6400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1383" y="50109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2B3A"/>
                </a:solidFill>
              </a:rPr>
              <a:t>まとめ・次のアクション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446520"/>
            <a:ext cx="11274552" cy="54864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opeSchedule 導入提案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8C0A"/>
                </a:solidFill>
              </a:rPr>
              <a:t>管理職向け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96"/>
                </a:solidFill>
              </a:rPr>
              <a:t>現状の課題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898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8D"/>
                </a:solidFill>
              </a:rPr>
              <a:t>PowerApps で運用している開発スケジュール管理の問題点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657600" cy="411480"/>
          </a:xfrm>
          <a:prstGeom prst="rect">
            <a:avLst/>
          </a:prstGeom>
          <a:solidFill>
            <a:srgbClr val="D6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ライセンスコスト大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3657600" cy="1691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33172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C2B3A"/>
                </a:solidFill>
              </a:rPr>
              <a:t>Power Apps per-user プランは 1 人あたり約
3,000 円/月。20 名規模で月 60,000 円（年 72 万円）。
ユーザー増加に比例してコストが膨らむ。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657600" cy="411480"/>
          </a:xfrm>
          <a:prstGeom prst="rect">
            <a:avLst/>
          </a:prstGeom>
          <a:solidFill>
            <a:srgbClr val="D6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1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カスタマイズの制約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240280"/>
            <a:ext cx="3657600" cy="1691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33172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C2B3A"/>
                </a:solidFill>
              </a:rPr>
              <a:t>ガントチャートの細かな表示制御（マイルストーン◆、
バー色指定、ドラッグ）が標準では困難。
追加開発にはプレミアムコネクタ費用が発生。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657600" cy="411480"/>
          </a:xfrm>
          <a:prstGeom prst="rect">
            <a:avLst/>
          </a:prstGeom>
          <a:solidFill>
            <a:srgbClr val="D6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7451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データ主権・可搬性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240280"/>
            <a:ext cx="3657600" cy="1691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33172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C2B3A"/>
                </a:solidFill>
              </a:rPr>
              <a:t>データは Microsoft クラウドに保存。
エクスポート・移行が困難で、サービス停止リスク。
オフライン利用・ローカル保存は不可。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3657600" cy="411480"/>
          </a:xfrm>
          <a:prstGeom prst="rect">
            <a:avLst/>
          </a:prstGeom>
          <a:solidFill>
            <a:srgbClr val="D6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バージョン管理の欠如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80560"/>
            <a:ext cx="3657600" cy="1691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57200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C2B3A"/>
                </a:solidFill>
              </a:rPr>
              <a:t>スケジュールの過去版を参照・比較する
機能が標準では提供されない。
変更履歴も手動管理が必要。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069080"/>
            <a:ext cx="3657600" cy="411480"/>
          </a:xfrm>
          <a:prstGeom prst="rect">
            <a:avLst/>
          </a:prstGeom>
          <a:solidFill>
            <a:srgbClr val="D6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114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ベンダーロックイン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480560"/>
            <a:ext cx="3657600" cy="1691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457200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C2B3A"/>
                </a:solidFill>
              </a:rPr>
              <a:t>Microsoft 365 ライセンス体系の変更や
Price 改定に全面依存。価格交渉力ゼロ。
M365 解約時はシステム即廃止。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069080"/>
            <a:ext cx="3657600" cy="411480"/>
          </a:xfrm>
          <a:prstGeom prst="rect">
            <a:avLst/>
          </a:prstGeom>
          <a:solidFill>
            <a:srgbClr val="D6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114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学習・保守コスト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480560"/>
            <a:ext cx="3657600" cy="1691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4572000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C2B3A"/>
                </a:solidFill>
              </a:rPr>
              <a:t>Power Fx（独自言語）の習得が必要。
社内エンジニアでの改修が難しく
外部ベンダーへの依存度が高い。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6B7C8D"/>
                </a:solidFill>
              </a:rPr>
              <a:t>現行 PowerApps の主要課題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opeSchedule 導入提案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8C0A"/>
                </a:solidFill>
              </a:rPr>
              <a:t>管理職向け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96"/>
                </a:solidFill>
              </a:rPr>
              <a:t>opeSchedule 提案システム概要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898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8D"/>
                </a:solidFill>
              </a:rPr>
              <a:t>自社開発の Web ベースガントチャート — 拡張・保守・コストすべてに優れる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5669280" cy="4114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主要機能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C2B3A"/>
                </a:solidFill>
              </a:rPr>
              <a:t>  ●  インタラクティブ ガントチャート（ドラッグ &amp; ドロップ）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C2B3A"/>
                </a:solidFill>
              </a:rPr>
              <a:t>  ●  マイルストーン / 通常タスク の混在管理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C2B3A"/>
                </a:solidFill>
              </a:rPr>
              <a:t>  ●  手動バージョンUP + 変更ログ（差分追跡）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C2B3A"/>
                </a:solidFill>
              </a:rPr>
              <a:t>  ●  プロジェクト毎の JSON / CSV インポート・エクスポート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C2B3A"/>
                </a:solidFill>
              </a:rPr>
              <a:t>  ●  タスク依存関係（矢印線）の可視化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C2B3A"/>
                </a:solidFill>
              </a:rPr>
              <a:t>  ●  モデル名 による最上位分類（プロジェクト群を整理）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C2B3A"/>
                </a:solidFill>
              </a:rPr>
              <a:t>  ●  サムネイル画像 をヘッダーに表示（視認性向上）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C2B3A"/>
                </a:solidFill>
              </a:rPr>
              <a:t>  ●  複数プロジェクト比較表示（セパレーター行で視認性向上）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C2B3A"/>
                </a:solidFill>
              </a:rPr>
              <a:t>  ●  REST API 完備（他システムとの連携容易）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669280" cy="41148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技術スタック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331720"/>
            <a:ext cx="18288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4048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バックエンド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331720"/>
            <a:ext cx="3840480" cy="502920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4231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 / FastAPI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35224"/>
            <a:ext cx="18288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00837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フロントエンド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935224"/>
            <a:ext cx="3840480" cy="50292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02666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React 18 + Vite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538728"/>
            <a:ext cx="18288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6118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ガントライブラリ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538728"/>
            <a:ext cx="3840480" cy="50292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6301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Frappe Gantt (OSS)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42231"/>
            <a:ext cx="18288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21538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データベース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142231"/>
            <a:ext cx="3840480" cy="502920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233671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SQLite (開発) / PostgreSQL (本番)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745736"/>
            <a:ext cx="18288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8188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コンテナ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4745736"/>
            <a:ext cx="3840480" cy="502920"/>
          </a:xfrm>
          <a:prstGeom prst="rect">
            <a:avLst/>
          </a:prstGeom>
          <a:solidFill>
            <a:srgbClr val="099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837175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Docker / docker-compose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349240"/>
            <a:ext cx="18288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42239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CI/CD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5349240"/>
            <a:ext cx="3840480" cy="5029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544067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GitHub Actions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263640"/>
            <a:ext cx="11612880" cy="347472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281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B3A"/>
                </a:solidFill>
              </a:rPr>
              <a:t>自社開発 OSS 構成のため、ユーザー数無制限・追加ライセンス費ゼロ・社内エンジニアによる改修自在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opeSchedule 導入提案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8C0A"/>
                </a:solidFill>
              </a:rPr>
              <a:t>管理職向け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96"/>
                </a:solidFill>
              </a:rPr>
              <a:t>PowerApps vs opeSchedule 機能比較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898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8D"/>
                </a:solidFill>
              </a:rPr>
              <a:t>主要機能・運用面での詳細比較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11612880" cy="50292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9202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比較項目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192024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PowerApps (現行)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92024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opeSchedule (提案)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57232" y="1920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優位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11795759" cy="402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478024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ガントチャート表示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478024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基本のみ (Power BI 連携要)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478024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ドラッグ &amp; ドロップ, マイルストーン◆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2423160"/>
            <a:ext cx="2286000" cy="402336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24871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提案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25496"/>
            <a:ext cx="11795759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880360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ユーザー数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2880360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無制限 (M365 依存)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880360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完全無制限・追加費ゼロ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2825496"/>
            <a:ext cx="2286000" cy="402336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2889503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提案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27832"/>
            <a:ext cx="11795759" cy="402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282696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ライセンス費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6352" y="3282696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約 3,000 円/人/月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282696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0 円 (OSS)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3227832"/>
            <a:ext cx="2286000" cy="402336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3291839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提案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630168"/>
            <a:ext cx="11795759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685031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バージョン管理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16352" y="3685031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なし (手動)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3685031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自動変更ログ + 手動バージョンUP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3630168"/>
            <a:ext cx="2286000" cy="402336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9800" y="369417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提案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032504"/>
            <a:ext cx="11795759" cy="402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4087368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データ保存場所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16352" y="4087368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Microsoft クラウド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4087368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自社管理 (AWS or オンプレ)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4032504"/>
            <a:ext cx="2286000" cy="402336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9800" y="40965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提案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434840"/>
            <a:ext cx="11795759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4489703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カスタマイズ性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16352" y="4489703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Power Fx 限定 / 外注依存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4489703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Python/React — 社内改修可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84080" y="4434840"/>
            <a:ext cx="2286000" cy="402336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9800" y="449884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提案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837176"/>
            <a:ext cx="11795759" cy="402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4892040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オフライン動作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16352" y="4892040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不可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2" y="4892040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オンプレ構成で社内 LAN 完結可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84080" y="4837176"/>
            <a:ext cx="2286000" cy="402336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29800" y="49011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提案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239512"/>
            <a:ext cx="11795759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" y="5294376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既存 M365 統合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16352" y="5294376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Teams / SharePoint 連携容易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91072" y="5294376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REST API 経由で要別途実装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5239512"/>
            <a:ext cx="2286000" cy="402336"/>
          </a:xfrm>
          <a:prstGeom prst="rect">
            <a:avLst/>
          </a:prstGeom>
          <a:solidFill>
            <a:srgbClr val="742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29800" y="530352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現行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641848"/>
            <a:ext cx="11795759" cy="40233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5696712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管理者不要運用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16352" y="5696712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Microsoft 管理コンソール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91072" y="5696712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サーバー管理者が必要 (最小限)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84080" y="5641848"/>
            <a:ext cx="2286000" cy="402336"/>
          </a:xfrm>
          <a:prstGeom prst="rect">
            <a:avLst/>
          </a:prstGeom>
          <a:solidFill>
            <a:srgbClr val="742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29800" y="57058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現行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6044183"/>
            <a:ext cx="11795759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7472" y="6099047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初期導入コスト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6352" y="6099047"/>
            <a:ext cx="33649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即時利用可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1072" y="6099047"/>
            <a:ext cx="34564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環境構築 1〜2 週間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784080" y="6044183"/>
            <a:ext cx="2286000" cy="402336"/>
          </a:xfrm>
          <a:prstGeom prst="rect">
            <a:avLst/>
          </a:prstGeom>
          <a:solidFill>
            <a:srgbClr val="742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29800" y="61081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現行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opeSchedule 導入提案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8C0A"/>
                </a:solidFill>
              </a:rPr>
              <a:t>管理職向け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96"/>
                </a:solidFill>
              </a:rPr>
              <a:t>運用コスト比較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898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8D"/>
                </a:solidFill>
              </a:rPr>
              <a:t>PowerApps 現行 / AWS 運用 / オンプレ運用 — 年間コスト比較（20名規模想定）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3703320" cy="457200"/>
          </a:xfrm>
          <a:prstGeom prst="rect">
            <a:avLst/>
          </a:prstGeom>
          <a:solidFill>
            <a:srgbClr val="742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PowerApps (現行)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3703320" cy="6217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140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ライセンス費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3,000 円 × 20 名 × 12 ヶ月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35808"/>
            <a:ext cx="3703320" cy="621792"/>
          </a:xfrm>
          <a:prstGeom prst="rect">
            <a:avLst/>
          </a:prstGeom>
          <a:solidFill>
            <a:srgbClr val="F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723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C8D"/>
                </a:solidFill>
              </a:rPr>
              <a:t>小計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720,000 円/年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94176"/>
            <a:ext cx="3703320" cy="6217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30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追加カスタマイズ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959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外注費: 50〜200 万円/件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52544"/>
            <a:ext cx="3703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管理コスト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542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M365 管理者工数 (年 5〜10 日)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10912"/>
            <a:ext cx="3703320" cy="621792"/>
          </a:xfrm>
          <a:prstGeom prst="rect">
            <a:avLst/>
          </a:prstGeom>
          <a:solidFill>
            <a:srgbClr val="F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47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C8D"/>
                </a:solidFill>
              </a:rPr>
              <a:t>5年累計試算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1266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約 360〜700 万円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874519"/>
            <a:ext cx="370332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19202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AWS 運用 (提案)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377440"/>
            <a:ext cx="3703320" cy="6217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4140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EC2 t3.small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6791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約 2,200 円/月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035808"/>
            <a:ext cx="3703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0723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RDS db.t3.micro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3375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約 2,200 円/月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694176"/>
            <a:ext cx="3703320" cy="6217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730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ALB + Route53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9959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約 2,800 円/月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4352544"/>
            <a:ext cx="3703320" cy="62179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4389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C8D"/>
                </a:solidFill>
              </a:rPr>
              <a:t>小計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6542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約 86,400 円/年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5010912"/>
            <a:ext cx="3703320" cy="62179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5047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C8D"/>
                </a:solidFill>
              </a:rPr>
              <a:t>5年累計試算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31266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約 43〜80 万円 (初期含)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1874519"/>
            <a:ext cx="370332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192024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オンプレ運用 (提案)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2377440"/>
            <a:ext cx="3703320" cy="6217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24140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サーバー機器(初期)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6791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20〜50 万円 (1 回のみ)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035808"/>
            <a:ext cx="3703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30723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電気代 + 保守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3375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約 10,000 円/月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694176"/>
            <a:ext cx="3703320" cy="6217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3730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C8D"/>
                </a:solidFill>
              </a:rPr>
              <a:t>IT人件費(月1h)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39959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約 5,000 円/月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4352544"/>
            <a:ext cx="3703320" cy="62179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4389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C8D"/>
                </a:solidFill>
              </a:rPr>
              <a:t>小計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6542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約 180,000 円/年 + 初期費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5010912"/>
            <a:ext cx="3703320" cy="621792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50474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C8D"/>
                </a:solidFill>
              </a:rPr>
              <a:t>5年累計試算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531266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約 90〜130 万円 (機器込)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60520" y="3657600"/>
            <a:ext cx="182880" cy="228600"/>
          </a:xfrm>
          <a:prstGeom prst="rect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78224" y="3429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C8D"/>
                </a:solidFill>
              </a:rPr>
              <a:t>vs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92440" y="3657600"/>
            <a:ext cx="182880" cy="228600"/>
          </a:xfrm>
          <a:prstGeom prst="rect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10144" y="3429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C8D"/>
                </a:solidFill>
              </a:rPr>
              <a:t>vs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6291072"/>
            <a:ext cx="1161288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309360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</a:rPr>
              <a:t>※ AWS 費用は 2026年3月 時点の東京リージョン料金 (1USD=150円換算)。実際の費用はリソースサイズ・通信量により変動します。  ※ オンプレは機器償却 5年で試算。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opeSchedule 導入提案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8C0A"/>
                </a:solidFill>
              </a:rPr>
              <a:t>管理職向け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96"/>
                </a:solidFill>
              </a:rPr>
              <a:t>AWS 構成案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898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8D"/>
                </a:solidFill>
              </a:rPr>
              <a:t>スモールスタート構成 — 可用性・スケーラビリティを確保しつつ低コストで運用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5486400" cy="4709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00" cy="38404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745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B3A"/>
                </a:solidFill>
              </a:rPr>
              <a:t>AWS 構成図（概要）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86000"/>
            <a:ext cx="1691640" cy="4297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Route 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340864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カスタムドメイン → ALB への DNS 解決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61488"/>
            <a:ext cx="1691640" cy="4297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816352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ACM (SSL証明書)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81635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HTTPS 化（無料で自動更新）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36976"/>
            <a:ext cx="1691640" cy="4297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291840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29184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ロードバランサー → EC2 への振り分け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12464"/>
            <a:ext cx="1691640" cy="4297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76732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EC2 t3.small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76732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アプリサーバー (2vCPU / 2GB) — Docker 実行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87952"/>
            <a:ext cx="1691640" cy="42976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4242816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└ 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242816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opeSchedule (FastAPI + Vite ビルド済み)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63440"/>
            <a:ext cx="1691640" cy="42976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4718303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RDS db.t3.micro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718303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PostgreSQL 15 — Multi-AZ オプション可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138928"/>
            <a:ext cx="1691640" cy="42976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5193792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19379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DB バックアップ・ログ保存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614416"/>
            <a:ext cx="1691640" cy="42976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5669280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CloudWatch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66928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監視・アラート → メール通知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089904"/>
            <a:ext cx="1691640" cy="42976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614476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VPC / SG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614476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アクセス制御 (443/80 のみ開放)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1828800"/>
            <a:ext cx="585216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0" y="1828800"/>
            <a:ext cx="5852160" cy="38404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187451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月額コスト内訳（概算）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2286000"/>
            <a:ext cx="585216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23408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EC2 t3.small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23408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~$15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23408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~2,200 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761488"/>
            <a:ext cx="5852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28163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RDS db.t3.micro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28163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~$15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28163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~2,200 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236976"/>
            <a:ext cx="585216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3291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ALB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32918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~$16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32918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~2,400 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3712464"/>
            <a:ext cx="5852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37673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Route 53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37673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~$0.5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37673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~75 円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4187952"/>
            <a:ext cx="585216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S3 (バックアップ)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42428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~$1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0" y="42428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~150 円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4663440"/>
            <a:ext cx="58521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471830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CloudWatch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0" y="471830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~$2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4718303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~300 円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5138928"/>
            <a:ext cx="585216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80" y="51937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データ転送 (出)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0" y="51937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~$1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51937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~150 円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35040" y="5614416"/>
            <a:ext cx="5852160" cy="438912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5669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合計 (月)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0" y="56692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C2B3A"/>
                </a:solidFill>
              </a:rPr>
              <a:t>~$51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66928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C2B3A"/>
                </a:solidFill>
              </a:rPr>
              <a:t>~7,600 円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6089904"/>
            <a:ext cx="5852160" cy="438912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61447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合計 (年)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0" y="61447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C2B3A"/>
                </a:solidFill>
              </a:rPr>
              <a:t>~$612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49840" y="6144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C2B3A"/>
                </a:solidFill>
              </a:rPr>
              <a:t>~91,800 円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6537960"/>
            <a:ext cx="11612880" cy="9144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640080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</a:rPr>
              <a:t>スケールアップ時: EC2 → t3.medium / ECS Fargate, RDS → Multi-AZ で対応可。CloudFront 追加で全国高速化も容易。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opeSchedule 導入提案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8C0A"/>
                </a:solidFill>
              </a:rPr>
              <a:t>管理職向け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96"/>
                </a:solidFill>
              </a:rPr>
              <a:t>オンプレ構成案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898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8D"/>
                </a:solidFill>
              </a:rPr>
              <a:t>社内 LAN 完結構成 — データを自社管理、インターネット不要で運用可能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5486400" cy="4709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0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745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オンプレ構成図（概要）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86000"/>
            <a:ext cx="1691640" cy="4297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社内サーバー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340864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Ubuntu 22.04 LTS — 既存サーバー転用可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61488"/>
            <a:ext cx="1691640" cy="4297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816352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81635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opeSchedule コンテナ実行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36976"/>
            <a:ext cx="1691640" cy="4297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291840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PostgreSQL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29184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Docker コンテナ or ホスト直インストール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12464"/>
            <a:ext cx="1691640" cy="4297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76732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Nginx (リバプロ)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76732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社内 HTTP/HTTPS ルーティング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87952"/>
            <a:ext cx="1691640" cy="4297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4242816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社内 DNS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242816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ホスト名解決 (例: gantt.internal)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63440"/>
            <a:ext cx="1691640" cy="4297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4718303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バックアップ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718303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cron + pg_dump → NAS/共有ドライブ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138928"/>
            <a:ext cx="1691640" cy="42976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5193792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アクセス制御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193792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社内 LAN のみ — ファイアウォールで外部遮断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614416"/>
            <a:ext cx="1691640" cy="42976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5669280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監視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66928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Zabbix / Mackerel（任意）— メール通知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089904"/>
            <a:ext cx="1691640" cy="42976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6144768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OS 更新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6144768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B3A"/>
                </a:solidFill>
              </a:rPr>
              <a:t>月 1 回 unattended-upgrades 適用推奨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1828800"/>
            <a:ext cx="585216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0" y="1828800"/>
            <a:ext cx="585216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187451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コスト内訳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2267712"/>
            <a:ext cx="5852160" cy="32004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23042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初期費用（1 回のみ）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633472"/>
            <a:ext cx="58521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26883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サーバー機器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268833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20〜50 万円 (新規購入)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035808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30906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  (既存転用)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09067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0 円 (社内遊休サーバー利用)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438144"/>
            <a:ext cx="58521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34930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OS / ソフトウェア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349300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0 円 (OSS のみ使用)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3840480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38953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環境構築工数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389534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3〜5 日（社内 IT）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4251960"/>
            <a:ext cx="5852160" cy="32004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6480" y="428853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ランニングコスト（月額）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4617720"/>
            <a:ext cx="58521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0" y="4672583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電気代（300W 換算）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4672583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約 2,000 円/月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5020056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0" y="50749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保守 IT 工数（1h/月）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5440" y="50749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約 5,000 円/月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5422392"/>
            <a:ext cx="58521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80" y="547725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SSL 証明書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5440" y="5477255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C2B3A"/>
                </a:solidFill>
              </a:rPr>
              <a:t>0 円 (Let's Encrypt)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5824728"/>
            <a:ext cx="5852160" cy="384048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0" y="58795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合計 (月)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587959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C2B3A"/>
                </a:solidFill>
              </a:rPr>
              <a:t>約 7,000 円/月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35040" y="6227064"/>
            <a:ext cx="5852160" cy="384048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628192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2B3A"/>
                </a:solidFill>
              </a:rPr>
              <a:t>合計 (年)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35440" y="6281927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C2B3A"/>
                </a:solidFill>
              </a:rPr>
              <a:t>約 84,000 円/年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640080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</a:rPr>
              <a:t>既存サーバー転用の場合、初期コストほぼゼロで導入可能。インターネット接続不要で情報漏洩リスクを最小化。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opeSchedule 導入提案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8C0A"/>
                </a:solidFill>
              </a:rPr>
              <a:t>管理職向け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96"/>
                </a:solidFill>
              </a:rPr>
              <a:t>コスト試算サマリー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898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8D"/>
                </a:solidFill>
              </a:rPr>
              <a:t>5 年間の総保有コスト（TCO）比較 — 20 名規模、現行 PowerApps との差分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11612880" cy="38404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 年間 TCO 比較（概算）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7772400" cy="548640"/>
          </a:xfrm>
          <a:prstGeom prst="rect">
            <a:avLst/>
          </a:prstGeom>
          <a:solidFill>
            <a:srgbClr val="742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PowerApps (現行)  ライセンス費のみ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231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360 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99815"/>
            <a:ext cx="9870948" cy="548640"/>
          </a:xfrm>
          <a:prstGeom prst="rect">
            <a:avLst/>
          </a:prstGeom>
          <a:solidFill>
            <a:srgbClr val="742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91256"/>
            <a:ext cx="97795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PowerApps + カスタマイズ開発 1件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36708" y="31912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460〜560 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67911"/>
            <a:ext cx="1321308" cy="5486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959351"/>
            <a:ext cx="12298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opeSchedule / AWS  (5年)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7068" y="395935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43〜80 万円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636008"/>
            <a:ext cx="194310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727448"/>
            <a:ext cx="18516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opeSchedule / オンプレ 新規購入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8860" y="472744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90〜130 万円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404104"/>
            <a:ext cx="1088136" cy="548640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495544"/>
            <a:ext cx="996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opeSchedule / オンプレ 既存転用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3896" y="54955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3A"/>
                </a:solidFill>
              </a:rPr>
              <a:t>42〜62 万円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263640"/>
            <a:ext cx="11612880" cy="38404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291072"/>
            <a:ext cx="11338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AWS 構成採用時: PowerApps 比 最大 -83% のコスト削減   オンプレ(転用)採用時: 最大 -88% のコスト削減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92240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</a:rPr>
              <a:t>※ PowerApps のカスタマイズ外注費・M365 管理工数は含まず。実際の削減効果はさらに大きい可能性があります。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opeSchedule 導入提案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8C0A"/>
                </a:solidFill>
              </a:rPr>
              <a:t>管理職向け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96"/>
                </a:solidFill>
              </a:rPr>
              <a:t>移行・導入スケジュール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898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8D"/>
                </a:solidFill>
              </a:rPr>
              <a:t>段階的アプローチ — 現行 PowerApps と並行運用し、リスクを最小化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2743200" cy="47548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2024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75104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Week 1〜2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95728"/>
            <a:ext cx="274320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395728"/>
            <a:ext cx="54864" cy="74980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60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環境構築（AWS or オンプレ）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54864" cy="74980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3364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Docker デプロイ + DB 初期化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05072"/>
            <a:ext cx="274320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005072"/>
            <a:ext cx="54864" cy="74980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4169663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社内アクセス確認 / SSL 設定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09744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809744"/>
            <a:ext cx="54864" cy="74980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4974336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テストユーザー 3〜5 名で試験運用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1874519"/>
            <a:ext cx="2743200" cy="47548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39" y="192024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1975104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Week 3〜4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395728"/>
            <a:ext cx="274320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2395728"/>
            <a:ext cx="54864" cy="74980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74136" y="2560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既存 PowerApps データの CSV エクスポート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200400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46120" y="3200400"/>
            <a:ext cx="54864" cy="74980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74136" y="3364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opeSchedule へのインポート作業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4005072"/>
            <a:ext cx="274320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46120" y="4005072"/>
            <a:ext cx="54864" cy="74980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4169663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並行運用開始（両システム稼働）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4809744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6120" y="4809744"/>
            <a:ext cx="54864" cy="74980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74136" y="4974336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操作マニュアル配布・簡易研修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874519"/>
            <a:ext cx="2743200" cy="475488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192024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975104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Week 5〜6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395728"/>
            <a:ext cx="274320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2395728"/>
            <a:ext cx="54864" cy="749808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2560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全ユーザーへの切り替え展開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200400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3200400"/>
            <a:ext cx="54864" cy="749808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3364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PowerApps へのデータ更新停止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005072"/>
            <a:ext cx="274320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4005072"/>
            <a:ext cx="54864" cy="749808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45936" y="4169663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1 週間の安定稼働確認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809744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4809744"/>
            <a:ext cx="54864" cy="749808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45936" y="4974336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問題なければ PowerApps ライセンス解約手続き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89720" y="1874519"/>
            <a:ext cx="2743200" cy="47548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5440" y="192024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0" y="1975104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Week 7〜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9720" y="2395728"/>
            <a:ext cx="274320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89720" y="2395728"/>
            <a:ext cx="54864" cy="74980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17736" y="2560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PowerApps ライセンス費 削減効果 実現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89720" y="3200400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89720" y="3200400"/>
            <a:ext cx="54864" cy="74980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17736" y="336499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定期バックアップ運用の確立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89720" y="4005072"/>
            <a:ext cx="274320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89720" y="4005072"/>
            <a:ext cx="54864" cy="74980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17736" y="4169663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監視アラート設定（CloudWatch 等）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89720" y="4809744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89720" y="4809744"/>
            <a:ext cx="54864" cy="74980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17736" y="4974336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四半期ごとの機能要望ヒアリング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63240" y="2039112"/>
            <a:ext cx="182880" cy="182880"/>
          </a:xfrm>
          <a:prstGeom prst="rect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17520" y="1993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7C8D"/>
                </a:solidFill>
              </a:rPr>
              <a:t>→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5040" y="2039112"/>
            <a:ext cx="182880" cy="182880"/>
          </a:xfrm>
          <a:prstGeom prst="rect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89320" y="1993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7C8D"/>
                </a:solidFill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06840" y="2039112"/>
            <a:ext cx="182880" cy="182880"/>
          </a:xfrm>
          <a:prstGeom prst="rect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61119" y="1993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7C8D"/>
                </a:solidFill>
              </a:rPr>
              <a:t>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6291072"/>
            <a:ext cx="11612880" cy="347472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6318504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並行運用期間を設けることでリスクを最小化。Phase 3 完了後に PowerApps ライセンスを解約し、翌月からコスト削減効果を実現。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opeSchedule 導入提案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8C0A"/>
                </a:solidFill>
              </a:rPr>
              <a:t>管理職向け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96"/>
                </a:solidFill>
              </a:rPr>
              <a:t>リスクと対策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898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8D"/>
                </a:solidFill>
              </a:rPr>
              <a:t>想定されるリスクと緩和策 — 意思決定前に確認すべき事項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5669280" cy="384048"/>
          </a:xfrm>
          <a:prstGeom prst="rect">
            <a:avLst/>
          </a:prstGeom>
          <a:solidFill>
            <a:srgbClr val="D6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836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サーバー障害 / 停止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836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FFFCC"/>
                </a:solidFill>
              </a:rPr>
              <a:t>利用者がスケジュールを参照できなくなる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12848"/>
            <a:ext cx="5669280" cy="10789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286000"/>
            <a:ext cx="54498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C2B3A"/>
                </a:solidFill>
              </a:rPr>
              <a:t>AWS: Multi-AZ RDS + ECS で自動復旧
オンプレ: 定期バックアップ(日次) + 障害時は
管理者が即日復旧。RPO 1 日 / RTO 4 時間目安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669280" cy="384048"/>
          </a:xfrm>
          <a:prstGeom prst="rect">
            <a:avLst/>
          </a:prstGeom>
          <a:solidFill>
            <a:srgbClr val="D6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88366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セキュリティ侵害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8836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FFFCC"/>
                </a:solidFill>
              </a:rPr>
              <a:t>スケジュールデータの漏洩・改ざん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12848"/>
            <a:ext cx="5669280" cy="10789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286000"/>
            <a:ext cx="54498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C2B3A"/>
                </a:solidFill>
              </a:rPr>
              <a:t>HTTPS 強制 / VPN 限定アクセス
Security Group で 443/80 のみ開放
定期的な OS / ライブラリ更新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64991"/>
            <a:ext cx="5669280" cy="384048"/>
          </a:xfrm>
          <a:prstGeom prst="rect">
            <a:avLst/>
          </a:prstGeom>
          <a:solidFill>
            <a:srgbClr val="E87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41985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担当者異動・属人化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4198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FFFCC"/>
                </a:solidFill>
              </a:rPr>
              <a:t>保守できる社内エンジニアがいなくなる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5669280" cy="10789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822191"/>
            <a:ext cx="54498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C2B3A"/>
                </a:solidFill>
              </a:rPr>
              <a:t>コード全量を GitHub で管理
設計書・運用手順書を整備済み
Dockerfile で環境再現性を確保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64991"/>
            <a:ext cx="5669280" cy="384048"/>
          </a:xfrm>
          <a:prstGeom prst="rect">
            <a:avLst/>
          </a:prstGeom>
          <a:solidFill>
            <a:srgbClr val="E87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341985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データ移行不備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4198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FFFCC"/>
                </a:solidFill>
              </a:rPr>
              <a:t>PowerApps から正しくデータが移行されない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49039"/>
            <a:ext cx="5669280" cy="10789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22191"/>
            <a:ext cx="54498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C2B3A"/>
                </a:solidFill>
              </a:rPr>
              <a:t>CSV エクスポートで段階移行
並行運用期間（2 週間）で差異チェック
ロールバック手順を事前に策定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901183"/>
            <a:ext cx="5669280" cy="38404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956047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ユーザー習熟コスト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56047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FFFCC"/>
                </a:solidFill>
              </a:rPr>
              <a:t>新 UI への慣れに時間がかかる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285231"/>
            <a:ext cx="5669280" cy="10789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5358383"/>
            <a:ext cx="54498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C2B3A"/>
                </a:solidFill>
              </a:rPr>
              <a:t>運用マニュアル (PPTX) 配布済み
30 分の操作研修で基本習得可能
問い合わせ窓口を IT 担当者に設定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901183"/>
            <a:ext cx="5669280" cy="38404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4956047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機能不足・要望対応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4956047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FFFCC"/>
                </a:solidFill>
              </a:rPr>
              <a:t>PowerApps にある機能が一部未実装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285231"/>
            <a:ext cx="5669280" cy="10789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5358383"/>
            <a:ext cx="544982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C2B3A"/>
                </a:solidFill>
              </a:rPr>
              <a:t>REST API 完備で追加機能開発が容易
社内エンジニアが対応可能（Python/React）
フィードバック収集サイクルを四半期で実施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446520"/>
            <a:ext cx="11612880" cy="91440"/>
          </a:xfrm>
          <a:prstGeom prst="rect">
            <a:avLst/>
          </a:prstGeom>
          <a:solidFill>
            <a:srgbClr val="6B7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492240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C8D"/>
                </a:solidFill>
              </a:rPr>
              <a:t>リスクレベル:  高（赤）/ 中（橙）/ 低（緑）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opeSchedule 導入提案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8C0A"/>
                </a:solidFill>
              </a:rPr>
              <a:t>管理職向け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96"/>
                </a:solidFill>
              </a:rPr>
              <a:t>推奨構成と意思決定フロー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898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8D"/>
                </a:solidFill>
              </a:rPr>
              <a:t>組織の状況に応じた最適構成の選択ガイド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5696"/>
                </a:solidFill>
              </a:rPr>
              <a:t>導入構成 選択フロー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331720"/>
            <a:ext cx="3017520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2331720"/>
            <a:ext cx="3017520" cy="54864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2316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2B3A"/>
                </a:solidFill>
              </a:rPr>
              <a:t>社内に Linux/Docker を
運用できるエンジニアがいる？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3611880"/>
            <a:ext cx="3017520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0" y="3611880"/>
            <a:ext cx="3017520" cy="54864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7033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2B3A"/>
                </a:solidFill>
              </a:rPr>
              <a:t>既存の遊休サーバーが
利用可能？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611880"/>
            <a:ext cx="3017520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611880"/>
            <a:ext cx="3017520" cy="54864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7033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2B3A"/>
                </a:solidFill>
              </a:rPr>
              <a:t>機密データを
社外に出したくない？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2004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6A"/>
                </a:solidFill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2004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3B2F"/>
                </a:solidFill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6A"/>
                </a:solidFill>
              </a:rP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5720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3B2F"/>
                </a:solidFill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5720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6A"/>
                </a:solidFill>
              </a:rP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5720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63B2F"/>
                </a:solidFill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956048"/>
            <a:ext cx="2286000" cy="1188720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04748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オンプレ
(既存転用)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56418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初期ほぼ0円
最安構成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4956048"/>
            <a:ext cx="2286000" cy="1188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504748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オンプレ
(新規購入)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6418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初期20〜50万
月額最安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956048"/>
            <a:ext cx="2286000" cy="1188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504748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オンプレ
(セキュア)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6418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データ社内完結
月額最安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4956048"/>
            <a:ext cx="2286000" cy="1188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504748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AWS
(推奨)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56418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月額~7,600円
管理不要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3611880"/>
            <a:ext cx="2286000" cy="1188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37033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AWS
(代替)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297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月額~7,600円
IT不要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solidFill>
            <a:srgbClr val="E88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29107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2B3A"/>
                </a:solidFill>
              </a:rPr>
              <a:t>本プロジェクトの推奨: AWS 構成（月額 ~7,600 円）— IT 担当者の負荷最小・スケールアップ容易・バックアップ自動化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opeSchedule 導入提案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731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8C0A"/>
                </a:solidFill>
              </a:rPr>
              <a:t>管理職向け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772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696"/>
                </a:solidFill>
              </a:rPr>
              <a:t>まとめ・次のアクション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89888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8D"/>
                </a:solidFill>
              </a:rPr>
              <a:t>意思決定のポイントと今後の進め方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5486400" cy="38404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導入メリット サマリー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04288"/>
            <a:ext cx="502920" cy="74980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4505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04288"/>
            <a:ext cx="498348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4086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96"/>
                </a:solidFill>
              </a:rPr>
              <a:t>コスト削減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51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PowerApps ライセンス費（年 72 万円）を
最大 -88% 削減。5 年で 300 万円以上の差。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45536"/>
            <a:ext cx="502920" cy="74980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291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45536"/>
            <a:ext cx="498348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8211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96"/>
                </a:solidFill>
              </a:rPr>
              <a:t>拡張性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930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ユーザー数増加でコスト増加ゼロ。
社内エンジニアが機能追加可能。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86784"/>
            <a:ext cx="502920" cy="74980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1330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498348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233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96"/>
                </a:solidFill>
              </a:rPr>
              <a:t>データ主権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3425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スケジュールデータを自社管理。
M365 解約の影響を受けない。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28032"/>
            <a:ext cx="502920" cy="74980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9743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28032"/>
            <a:ext cx="498348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646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96"/>
                </a:solidFill>
              </a:rPr>
              <a:t>機能優位性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1755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ガントチャート・バージョン管理・
変更ログ機能が標準搭載。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669280"/>
            <a:ext cx="502920" cy="749808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8155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669280"/>
            <a:ext cx="498348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70585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96"/>
                </a:solidFill>
              </a:rPr>
              <a:t>移行リスク小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0167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2 週間の並行運用で安全移行。
ロールバック手順も整備済み。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874519"/>
            <a:ext cx="5852160" cy="384048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19202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次のアクション（承認後）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304288"/>
            <a:ext cx="1188720" cy="65836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62472" y="243230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2304288"/>
            <a:ext cx="466344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2377440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構成決定（AWS or オンプレ）
予算申請・承認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008376"/>
            <a:ext cx="1188720" cy="65836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62472" y="313639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3008376"/>
            <a:ext cx="4663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環境構築 + Docker デプロイ
テストユーザー選定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712464"/>
            <a:ext cx="1188720" cy="65836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62472" y="38404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3712464"/>
            <a:ext cx="466344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0" y="3785616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データ移行テスト + 並行運用開始
マニュアル配布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4416552"/>
            <a:ext cx="1188720" cy="65836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62472" y="45445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4416552"/>
            <a:ext cx="4663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4489704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全ユーザー切り替え
PowerApps 更新停止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5120640"/>
            <a:ext cx="1188720" cy="65836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62472" y="5248655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5120640"/>
            <a:ext cx="4663440" cy="6583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0" y="5193792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安定稼働確認
PowerApps ライセンス解約申請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824728"/>
            <a:ext cx="1188720" cy="658368"/>
          </a:xfrm>
          <a:prstGeom prst="rect">
            <a:avLst/>
          </a:prstGeom>
          <a:solidFill>
            <a:srgbClr val="1A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62472" y="595274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 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23760" y="5824728"/>
            <a:ext cx="4663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0" y="5897880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2B3A"/>
                </a:solidFill>
              </a:rPr>
              <a:t>コスト削減効果レポート作成
継続改善ヒアリング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6400800"/>
            <a:ext cx="11612880" cy="411480"/>
          </a:xfrm>
          <a:prstGeom prst="rect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42823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ご承認をいただければ、最短 2 週間でパイロット運用を開始できます。  まずは構成（AWS / オンプレ）の選択をお願いします。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